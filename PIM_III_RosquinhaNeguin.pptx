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Arial"/>
              </a:defRPr>
            </a:pPr>
            <a:r>
              <a:t>PROJETO INTEGRADO MULTIDISCIPLINAR III</a:t>
            </a:r>
          </a:p>
          <a:p>
            <a:pPr algn="ctr">
              <a:spcBef>
                <a:spcPts val="1200"/>
              </a:spcBef>
              <a:defRPr sz="2000">
                <a:solidFill>
                  <a:srgbClr val="FFFFFF"/>
                </a:solidFill>
                <a:latin typeface="Arial"/>
              </a:defRPr>
            </a:pPr>
            <a:r>
              <a:t>Rosquinha do Neguin - Modernização Web, Transações Seguras e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D4AF37"/>
                </a:solidFill>
                <a:latin typeface="Arial"/>
              </a:defRPr>
            </a:pPr>
            <a:r>
              <a:t>Integrantes do Grupo (Curso de Análise e Desenvolvimento de Sistemas):</a:t>
            </a:r>
          </a:p>
          <a:p>
            <a:pPr algn="ctr">
              <a:spcBef>
                <a:spcPts val="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Kaue Zuza da Silva (RA: R857433)   |   Rafael de Jesus Almeida (RA: R069EG0)   |   Pedro Henrique Silva (RA: R861856)</a:t>
            </a:r>
          </a:p>
          <a:p>
            <a:pPr algn="ctr">
              <a:spcBef>
                <a:spcPts val="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Gisele Antunes Ramos (RA: R8117H1)   |   Claudio Vinicius Silva (RA: R958FH5)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F37"/>
                </a:solidFill>
                <a:latin typeface="Arial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A2711"/>
                </a:solidFill>
                <a:latin typeface="Arial"/>
              </a:defRPr>
            </a:pPr>
            <a:r>
              <a:t>01. INTRODUÇÃO E DEFINIÇÃO DO NEGÓCIO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O Problema (Cenário Analógico)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Vendas manuais via WhatsApp e redes sociais geravam lentidão de resposta superior a 30 minutos em horários de pico.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Erros de anotação de pedidos e agendamentos de entrega em cadernos ou planilhas locais.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Desperdício de ingredientes frescos por falta de sincronização entre vendas e compras da cozinha.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Completa ausência de histórico consolidado de clientes e relatórios financeiros automatizados.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A Solução (Plataforma Digital)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Plataforma web responsiva (Mobile-First) permitindo compras e agendamentos autônomos pelos clientes.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Cardápio dinâmico com 32 produtos (churros, donuts, salgados, bebidas) atualizado em tempo real.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Automação do controle de estoque físico pós-venda.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Checkout unificado com métodos transacionais modernos e seguros de pagamento digital (Pix e Cartão).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A2711"/>
                </a:solidFill>
                <a:latin typeface="Arial"/>
              </a:defRPr>
            </a:pPr>
            <a:r>
              <a:t>02. ENGENHARIA DE SOFTWARE ÁGIL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Práticas Scrum &amp; Requisitos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Metodologia ágil Scrum baseada em papéis claros (PO, Scrum Master e Devs) com Sprints incrementais de 2 semanas.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Requisitos Funcionais (RF) cruciais: checkout integrado, exibição de combos, guarda segura de cartões e logs de acesso.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Requisitos Não Funcionais (RNF) restritivos: descarte imediato de CVV/número completo do cartão, criptografia de senhas com salt BCrypt e tempo de resposta &lt; 1.2s.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Backlog Priorizado (Histórias de Usuário)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✔ US01 (Catálogo): Visualizar produtos e combos. (Prioridade Alta)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✔ US03 (Pagamento Pix): Pagar com código dinâmico. (Prioridade Alta)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✔ US04 (Pagamento Cartão): Cadastrar cartão com mockup 3D. (Prioridade Média)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✔ US05 (Admin Pix): Definir credenciais Pix no painel. (Prioridade Alta)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✔ US06 (Auditoria): Monitorar logs de login na base. (Prioridade Média)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A2711"/>
                </a:solidFill>
                <a:latin typeface="Arial"/>
              </a:defRPr>
            </a:pPr>
            <a:r>
              <a:t>03. BANCO DE DADOS RELACIONAL E NOSQL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Estrutura do Banco Relacional (SQL)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• Mapeamento relacional via Entity Framework Core rodando SQLite (dev) e MySQL (produção).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• Tabela 'CartoesCredito': Mapeada com relacionamento 1:N com 'Usuarios' e ON DELETE CASCADE para exclusão segura.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• Tabela 'LogsLogin': Registro de IP, data e status de login (ON DELETE SET NULL).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• Tabela 'Configuracoes': Chave-valor persistente para parametrização do Pix pelo administrador em tempo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Justificativa da Arquitetura Híbrida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⚡  SQL: Garante consistência rígida, atomicidade transacional e integridade referencial nas tabelas de 'Pedidos' e 'Estoque'.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⚡  MongoDB (NoSQL Document): Indicado para isolar a gravação em massa de logs de login e histórico de auditoria de acessos.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⚡  Redis (NoSQL Key-Value): Projetado para persistir em memória os carrinhos temporários dos clientes com latência de acesso &lt; 100ms.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A2711"/>
                </a:solidFill>
                <a:latin typeface="Arial"/>
              </a:defRPr>
            </a:pPr>
            <a:r>
              <a:t>04. PROGRAMAÇÃO ORIENTADA A OBJETOS (C#)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Arquitetura &amp; Injeção de Dependências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Backend estruturado na plataforma .NET 8 utilizando rotas API REST seguras e JWT Bearer Tokens.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Injeção de dependência Scoped no DbContext do EF Core para otimizar conexões com o banco.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Uso de Data Transfer Objects (DTOs) para validar e transportar dados de entrada, impedindo Overposting.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Os Quatro Pilares de POO no Código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■ Abstração: Acoplamento fraco usando interfaces como 'IPedidoRepository' para mockar dados.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■ Encapsulamento: Atributos privados expostos por propriedades controladas e mascaramento de cartões.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■ Herança: 'AppDbContext' estendendo a classe base 'DbContext' do framework.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■ Polimorfismo: Sobrecarga (override) de métodos de pagamento (Pix vs Cartão) herdados da classe abstrata.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A2711"/>
                </a:solidFill>
                <a:latin typeface="Arial"/>
              </a:defRPr>
            </a:pPr>
            <a:r>
              <a:t>05. FRONTEND, EXPERIÊNCIA DO USUÁRIO E ACESSIBILIDADE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UI Design &amp; Telas Transacionais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• Guia de estilos premium com cores baseadas em Chocolate (#4A2711) e Dourado (#D4AF37).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• Formulário com Cartão de Crédito 3D Interativo: Efeito Flip tridimensional ao focar no CVV e reconhecimento automático de bandeira.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• Modal de Checkout Pix: QR Code dinâmico, código copia e cola automático, e temporizador regressivo de 10 minutos.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Usabilidade &amp; Acessibilidade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♿ Aplicação das Heurísticas de Nielsen: Visibilidade do status (timer regressivo e toasts), consistência e prevenção de erros.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♿ Acessibilidade de Teclado: Foco claro em inputs e botões com teclas Tab e Enter para controle motor restrito.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♿ Inclusão com LIBRAS: Integração do widget governamental VLibras com avatar interativo 3D para tradução de textos do cardápio.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A2711"/>
                </a:solidFill>
                <a:latin typeface="Arial"/>
              </a:defRPr>
            </a:pPr>
            <a:r>
              <a:t>06. MACHINE LEARNING: PREVISÃO DE DEMANDA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Modelo de Regressão Linear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Algoritmo: Regressão Linear Múltipla treinado em Python utilizando dados transacionais do banco.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Variáveis Independentes: Identificador de fim de semana (0/1), feriado (0/1) e faturamento médio recente.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Finalidade: Estimar as vendas diárias da doceria, permitindo programar a compra de ingredientes frescos de curta validade e otimizar a cozinha.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Principais Insights Gerenciais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📈  Finais de semana e feriados possuem correlação linear forte positiva no faturamento da loja.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📈  Previsão indica aumento de até 45% de demanda de churros nas sextas e sábados à noite.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📈  O planejamento reduz o desperdício de insumos na cozinha em cerca de 30%.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📈  Erro Médio Absoluto (MAE) de validação cruzada estimado em R$ 18,20 sobre as vendas diárias.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A2711"/>
                </a:solidFill>
                <a:latin typeface="Arial"/>
              </a:defRPr>
            </a:pPr>
            <a:r>
              <a:t>07. ML: SEGMENTAÇÃO DE CLIENTES E ASSOCIAÇÃO DE COMBOS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Segmentação de Clientes (K-Means)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• Agrupamento da base de dados de clientes em 4 perfis distintos com base em Frequência de Compras e Gasto Total.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• Clusters mapeados pelo K-Means: Novos Clientes (baixo gasto), Ocasionais (consumo esporádico), Alto Valor (consome premium) e Fiéis (alta recorrência).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• Ações sugeridas: Cupons de boas-vindas para cluster Novo e fidelização prioritária para cluster Fiel.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Cesta de Compras (Algoritmo Apriori)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✔ Mede a associação de co-ocorrência de produtos no mesmo carrinho utilizando as métricas Suporte, Confiança e Lift.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✔ Regra Forte: 'Churros ➡️ Bebida' obteve confiança de 85% de compra conjunta e Lift de 1.45.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✔ Regra Secundária: 'Rosquinha ➡️ Café' com confiança de 78%.</a:t>
            </a:r>
          </a:p>
          <a:p>
            <a:pPr>
              <a:spcAft>
                <a:spcPts val="6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✔ Validação: Justifica matematicamente os combos promocionais exibidos no site, elevando o tíquete médio da confeitaria.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A2711"/>
                </a:solidFill>
                <a:latin typeface="Arial"/>
              </a:defRPr>
            </a:pPr>
            <a:r>
              <a:t>08. COMPETÊNCIAS HUMANAS E TRABALHO EM EQUIPE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173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Comunicação &amp; Liderança Ágil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Comunicação Integrada: Alinhamentos síncronos semanais e gestão assíncrona baseada em cartões de tarefas no Slack.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Liderança Compartilhada: Cada integrante do time liderou as decisões em áreas de sua maior afinidade técnica.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Redução de Ruídos: Uso de linguagem simplificada e focada em resultados de negócio para a relação com o cliente Pedro.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A2711"/>
                </a:solidFill>
                <a:latin typeface="Arial"/>
              </a:defRPr>
            </a:pPr>
            <a:r>
              <a:t>Negociação de Escopo &amp; LIBRAS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★ Negociação de Escopo na Sprint 2: Substituição de integração real de gateway externo por uma simulação local segura com mascaramento e tokenização.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★ O trade-off economizou tempo de setup e evitou dependências de terceiros sem comprometer a segurança acadêmica do PIM III.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★ Inclusão Social: Comprometimento ético do time ao prover acessibilidade em LIBRAS com o VLibras para inclusão de deficientes auditivos.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  <a:latin typeface="Arial"/>
              </a:defRPr>
            </a:pPr>
            <a:r>
              <a:t>CONCLUSÃO E TRABALHOS FUTUROS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Transição bem-sucedida da confeitaria Rosquinha do Neguin de vendas manuais e analógicas para uma plataforma web automatizada de e-commerce.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Integração total e prática das disciplinas do curso de ADS da UNIP: Engenharia de Software, Banco de Dados, POO, Frontend e Inteligência Artificial.</a:t>
            </a:r>
          </a:p>
          <a:p>
            <a:pPr>
              <a:spcBef>
                <a:spcPts val="1400"/>
              </a:spcBef>
              <a:defRPr sz="1700" b="1">
                <a:solidFill>
                  <a:srgbClr val="D4AF37"/>
                </a:solidFill>
                <a:latin typeface="Arial"/>
              </a:defRPr>
            </a:pPr>
            <a:r>
              <a:t>Evoluções e Trabalhos Futuros Projetados para a plataforma: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- Integração real com API Pix do Banco Central via Webhooks de confirmação instantânea de pagamentos.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- Desenvolvimento de aplicativo mobile nativo (iOS / Android) utilizando o framework Flutter.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- Implementação de um Chatbot de IA com PLN integrado no WhatsApp Business para pré-atendimento.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F37"/>
                </a:solidFill>
                <a:latin typeface="Arial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